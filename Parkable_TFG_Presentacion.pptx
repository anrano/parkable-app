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4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658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1280160" cy="12801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2331720" y="3017520"/>
            <a:ext cx="182880" cy="18288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-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20040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Parking. Shared Spaces.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00400" y="3749040"/>
            <a:ext cx="548640" cy="0"/>
          </a:xfrm>
          <a:prstGeom prst="line">
            <a:avLst/>
          </a:prstGeom>
          <a:noFill/>
          <a:ln w="254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00400" y="3886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Android para el alquiler colaborativo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plazas de garaje y avisos de aparcamiento en tiempo real.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0" y="5029200"/>
            <a:ext cx="2286000" cy="365760"/>
          </a:xfrm>
          <a:prstGeom prst="rect">
            <a:avLst/>
          </a:prstGeom>
          <a:solidFill>
            <a:srgbClr val="1A6E9E">
              <a:alpha val="20000"/>
            </a:srgbClr>
          </a:solidFill>
          <a:ln w="12700">
            <a:solidFill>
              <a:srgbClr val="1A6E9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 DE CICLO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5532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Raño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Formativo de Grado Superior · Desarrollo de Aplicaciones Multiplataforma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 El Majuelo · Curso 2025-2026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47120" y="6217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veremos hoy?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463040" y="2834640"/>
            <a:ext cx="0" cy="822960"/>
          </a:xfrm>
          <a:prstGeom prst="line">
            <a:avLst/>
          </a:prstGeom>
          <a:noFill/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645920" y="2743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200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buscar aparcamiento es un drama urbano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7223760" y="2834640"/>
            <a:ext cx="0" cy="822960"/>
          </a:xfrm>
          <a:prstGeom prst="line">
            <a:avLst/>
          </a:prstGeom>
          <a:noFill/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406640" y="2743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Parkable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06640" y="3200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plataformas en una sola 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886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1463040" y="3977640"/>
            <a:ext cx="0" cy="822960"/>
          </a:xfrm>
          <a:prstGeom prst="line">
            <a:avLst/>
          </a:prstGeom>
          <a:noFill/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1645920" y="3886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la app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4343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Foro social, recompensas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886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7223760" y="3977640"/>
            <a:ext cx="0" cy="822960"/>
          </a:xfrm>
          <a:prstGeom prst="line">
            <a:avLst/>
          </a:prstGeom>
          <a:noFill/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406640" y="3886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06640" y="4343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MVVM, Jetpack Compose, Firebase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029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1463040" y="5120640"/>
            <a:ext cx="0" cy="822960"/>
          </a:xfrm>
          <a:prstGeom prst="line">
            <a:avLst/>
          </a:prstGeom>
          <a:noFill/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1645920" y="5029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esencial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5920" y="5486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fragmentos que hacen que funcione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5029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30" name="Shape 28"/>
          <p:cNvSpPr/>
          <p:nvPr/>
        </p:nvSpPr>
        <p:spPr>
          <a:xfrm>
            <a:off x="7223760" y="5120640"/>
            <a:ext cx="0" cy="822960"/>
          </a:xfrm>
          <a:prstGeom prst="line">
            <a:avLst/>
          </a:prstGeom>
          <a:noFill/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406640" y="50292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y futuro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06640" y="5486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 y posibles ampliaciones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EL PROBLEMA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 al día.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día.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urbano medio pierde más de 100 horas al año dando vueltas para encontrar dónde aparcar.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son litros de combustible quemados sin sentido, emisiones evitables y minutos perdidos para siempre.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3657600" cy="15544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54864" cy="1554480"/>
          </a:xfrm>
          <a:prstGeom prst="rect">
            <a:avLst/>
          </a:prstGeom>
          <a:solidFill>
            <a:srgbClr val="E87070"/>
          </a:solidFill>
          <a:ln w="12700">
            <a:solidFill>
              <a:srgbClr val="E870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8580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371600" y="5349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medio buscando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aparcamiento en ciudad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4572000"/>
            <a:ext cx="3657600" cy="15544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297680" y="4572000"/>
            <a:ext cx="54864" cy="1554480"/>
          </a:xfrm>
          <a:prstGeom prst="rect">
            <a:avLst/>
          </a:prstGeom>
          <a:solidFill>
            <a:srgbClr val="E87070"/>
          </a:solidFill>
          <a:ln w="12700">
            <a:solidFill>
              <a:srgbClr val="E870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52628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21208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kg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212080" y="5349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emitido al año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conductor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4572000"/>
            <a:ext cx="3657600" cy="15544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8138160" y="4572000"/>
            <a:ext cx="54864" cy="1554480"/>
          </a:xfrm>
          <a:prstGeom prst="rect">
            <a:avLst/>
          </a:prstGeom>
          <a:solidFill>
            <a:srgbClr val="E87070"/>
          </a:solidFill>
          <a:ln w="12700">
            <a:solidFill>
              <a:srgbClr val="E870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836676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052560" y="4709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052560" y="5349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combustible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perdido al año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LA SOLUCIÓN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conecta a quien busca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quien comparte.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plataformas integradas en una sola app, que se complementan para resolver el problema desde ambos lados.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577840" cy="2468880"/>
          </a:xfrm>
          <a:prstGeom prst="rect">
            <a:avLst/>
          </a:prstGeom>
          <a:solidFill>
            <a:srgbClr val="1E1E2A"/>
          </a:solidFill>
          <a:ln w="1905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🅿️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544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4343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plazas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4846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Alquila o publica plazas de garaje por horas, días, semanas o meses. Como Wallapop, pero solo para aparcar.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760720"/>
            <a:ext cx="91440" cy="91440"/>
          </a:xfrm>
          <a:prstGeom prst="ellipse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68680" y="5669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68880" y="5760720"/>
            <a:ext cx="91440" cy="91440"/>
          </a:xfrm>
          <a:prstGeom prst="ellipse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606040" y="5669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integrado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5760720"/>
            <a:ext cx="91440" cy="91440"/>
          </a:xfrm>
          <a:prstGeom prst="ellipse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343400" y="5669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instantánea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840480"/>
            <a:ext cx="5577840" cy="2468880"/>
          </a:xfrm>
          <a:prstGeom prst="rect">
            <a:avLst/>
          </a:prstGeom>
          <a:solidFill>
            <a:srgbClr val="1E1E2A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4922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31520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4343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 Social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4846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 de avisos en tiempo real: avisa cuando sales de una plaza en la calle y gana puntos por ayudar a otros conductores.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0" y="5760720"/>
            <a:ext cx="91440" cy="91440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629400" y="5669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5760720"/>
            <a:ext cx="91440" cy="91440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8366760" y="5669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bilateral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966960" y="5760720"/>
            <a:ext cx="91440" cy="91440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10104120" y="5669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+100/+25 puntos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vs. con Parkable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PARKABLE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PARKABLE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0" y="2743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1247120" cy="566928"/>
          </a:xfrm>
          <a:prstGeom prst="rect">
            <a:avLst/>
          </a:prstGeom>
          <a:solidFill>
            <a:srgbClr val="1E1E2A">
              <a:alpha val="50000"/>
            </a:srgbClr>
          </a:solidFill>
          <a:ln w="12700">
            <a:solidFill>
              <a:srgbClr val="1E1E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buscando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3246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561320" y="3364992"/>
            <a:ext cx="1005840" cy="329184"/>
          </a:xfrm>
          <a:prstGeom prst="rect">
            <a:avLst/>
          </a:prstGeom>
          <a:solidFill>
            <a:srgbClr val="7CB342">
              <a:alpha val="25000"/>
            </a:srgbClr>
          </a:solidFill>
          <a:ln w="12700">
            <a:solidFill>
              <a:srgbClr val="7CB34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0561320" y="33649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−93%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8130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Estrés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38130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38130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61320" y="3931920"/>
            <a:ext cx="1005840" cy="329184"/>
          </a:xfrm>
          <a:prstGeom prst="rect">
            <a:avLst/>
          </a:prstGeom>
          <a:solidFill>
            <a:srgbClr val="7CB342">
              <a:alpha val="25000"/>
            </a:srgbClr>
          </a:solidFill>
          <a:ln w="12700">
            <a:solidFill>
              <a:srgbClr val="7CB34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0561320" y="3931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79976"/>
            <a:ext cx="11247120" cy="566928"/>
          </a:xfrm>
          <a:prstGeom prst="rect">
            <a:avLst/>
          </a:prstGeom>
          <a:solidFill>
            <a:srgbClr val="1E1E2A">
              <a:alpha val="50000"/>
            </a:srgbClr>
          </a:solidFill>
          <a:ln w="12700">
            <a:solidFill>
              <a:srgbClr val="1E1E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40080" y="43799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por viaje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31920" y="43799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 kg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43799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 kg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561320" y="4498848"/>
            <a:ext cx="1005840" cy="329184"/>
          </a:xfrm>
          <a:prstGeom prst="rect">
            <a:avLst/>
          </a:prstGeom>
          <a:solidFill>
            <a:srgbClr val="7CB342">
              <a:alpha val="25000"/>
            </a:srgbClr>
          </a:solidFill>
          <a:ln w="12700">
            <a:solidFill>
              <a:srgbClr val="7CB34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10561320" y="44988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946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31920" y="4946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Efectivo / tickets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4946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561320" y="5065776"/>
            <a:ext cx="1005840" cy="329184"/>
          </a:xfrm>
          <a:prstGeom prst="rect">
            <a:avLst/>
          </a:prstGeom>
          <a:solidFill>
            <a:srgbClr val="7CB342">
              <a:alpha val="25000"/>
            </a:srgbClr>
          </a:solidFill>
          <a:ln w="12700">
            <a:solidFill>
              <a:srgbClr val="7CB34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10561320" y="50657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513832"/>
            <a:ext cx="11247120" cy="566928"/>
          </a:xfrm>
          <a:prstGeom prst="rect">
            <a:avLst/>
          </a:prstGeom>
          <a:solidFill>
            <a:srgbClr val="1E1E2A">
              <a:alpha val="50000"/>
            </a:srgbClr>
          </a:solidFill>
          <a:ln w="12700">
            <a:solidFill>
              <a:srgbClr val="1E1E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40080" y="55138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previa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31920" y="55138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15200" y="55138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Instantánea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0561320" y="5632704"/>
            <a:ext cx="1005840" cy="329184"/>
          </a:xfrm>
          <a:prstGeom prst="rect">
            <a:avLst/>
          </a:prstGeom>
          <a:solidFill>
            <a:srgbClr val="7CB342">
              <a:alpha val="25000"/>
            </a:srgbClr>
          </a:solidFill>
          <a:ln w="12700">
            <a:solidFill>
              <a:srgbClr val="7CB34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10561320" y="56327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813048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457200" y="4379976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457200" y="4946904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457200" y="5513832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OBJETIVO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quién es Parkable?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3657600" cy="36576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657600" cy="73152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822960" cy="822960"/>
          </a:xfrm>
          <a:prstGeom prst="ellipse">
            <a:avLst/>
          </a:prstGeom>
          <a:solidFill>
            <a:srgbClr val="1A6E9E">
              <a:alpha val="20000"/>
            </a:srgbClr>
          </a:solidFill>
          <a:ln w="12700">
            <a:solidFill>
              <a:srgbClr val="1A6E9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urbano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30 min cada día buscando dónde aparcar cerca del trabajo.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394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que aporta Parkable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5669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su plaza antes de salir de casa y llega directo, sin estrés.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651760"/>
            <a:ext cx="3657600" cy="36576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297680" y="2651760"/>
            <a:ext cx="3657600" cy="73152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572000" y="2926080"/>
            <a:ext cx="822960" cy="822960"/>
          </a:xfrm>
          <a:prstGeom prst="ellipse">
            <a:avLst/>
          </a:prstGeom>
          <a:solidFill>
            <a:srgbClr val="7CB342">
              <a:alpha val="20000"/>
            </a:srgbClr>
          </a:solidFill>
          <a:ln w="12700">
            <a:solidFill>
              <a:srgbClr val="7CB34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57200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57200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propietario de garaje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4617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una plaza vacía 5 días a la semana sin generar ningún ingreso.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5394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que aporta Parkable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0" y="5669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publica en Parkable y obtiene entre 50–200 €/mes sin gestionar nada.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2651760"/>
            <a:ext cx="3657600" cy="36576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8138160" y="2651760"/>
            <a:ext cx="3657600" cy="7315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8412480" y="2926080"/>
            <a:ext cx="822960" cy="822960"/>
          </a:xfrm>
          <a:prstGeom prst="ellipse">
            <a:avLst/>
          </a:prstGeom>
          <a:solidFill>
            <a:srgbClr val="26A69A">
              <a:alpha val="20000"/>
            </a:srgbClr>
          </a:solidFill>
          <a:ln w="12700">
            <a:solidFill>
              <a:srgbClr val="26A6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841248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841248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conductor colaborativo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41248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12480" y="4617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frustra ver gente dando vueltas cuando él va a salir de su plaza.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0" y="5394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que aporta Parkable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5669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antes de irse, gana puntos y los canjea por premios reales.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DEMO DE LA 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buscar y reservar plaza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463040" cy="2377440"/>
          </a:xfrm>
          <a:prstGeom prst="rect">
            <a:avLst/>
          </a:prstGeom>
          <a:solidFill>
            <a:srgbClr val="272735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280160" cy="219456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143000" y="2788920"/>
            <a:ext cx="274320" cy="45720"/>
          </a:xfrm>
          <a:prstGeom prst="rect">
            <a:avLst/>
          </a:prstGeom>
          <a:solidFill>
            <a:srgbClr val="171721"/>
          </a:solidFill>
          <a:ln w="12700">
            <a:solidFill>
              <a:srgbClr val="1717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1097280" cy="1645920"/>
          </a:xfrm>
          <a:prstGeom prst="rect">
            <a:avLst/>
          </a:prstGeom>
          <a:solidFill>
            <a:srgbClr val="272735"/>
          </a:solidFill>
          <a:ln w="12700">
            <a:solidFill>
              <a:srgbClr val="2727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850392" y="3227832"/>
            <a:ext cx="164592" cy="164592"/>
          </a:xfrm>
          <a:prstGeom prst="ellipse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353312" y="3502152"/>
            <a:ext cx="164592" cy="164592"/>
          </a:xfrm>
          <a:prstGeom prst="ellipse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1078992" y="3959352"/>
            <a:ext cx="164592" cy="164592"/>
          </a:xfrm>
          <a:prstGeom prst="ellipse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143000" y="3749040"/>
            <a:ext cx="201168" cy="201168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48640" y="5166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432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mapa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5897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ve plazas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cercanas en tiempo real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36576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3429000" y="2651760"/>
            <a:ext cx="1463040" cy="2377440"/>
          </a:xfrm>
          <a:prstGeom prst="rect">
            <a:avLst/>
          </a:prstGeom>
          <a:solidFill>
            <a:srgbClr val="272735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520440" y="2743200"/>
            <a:ext cx="1280160" cy="219456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023360" y="2788920"/>
            <a:ext cx="274320" cy="45720"/>
          </a:xfrm>
          <a:prstGeom prst="rect">
            <a:avLst/>
          </a:prstGeom>
          <a:solidFill>
            <a:srgbClr val="171721"/>
          </a:solidFill>
          <a:ln w="12700">
            <a:solidFill>
              <a:srgbClr val="1717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3611880" y="2971800"/>
            <a:ext cx="1097280" cy="4114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657600" y="3017520"/>
            <a:ext cx="274320" cy="320040"/>
          </a:xfrm>
          <a:prstGeom prst="rect">
            <a:avLst/>
          </a:prstGeom>
          <a:solidFill>
            <a:srgbClr val="272735"/>
          </a:solidFill>
          <a:ln w="12700">
            <a:solidFill>
              <a:srgbClr val="2727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611880" y="3474720"/>
            <a:ext cx="1097280" cy="4114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657600" y="3520440"/>
            <a:ext cx="274320" cy="32004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3611880" y="3977640"/>
            <a:ext cx="1097280" cy="4114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3657600" y="4023360"/>
            <a:ext cx="274320" cy="320040"/>
          </a:xfrm>
          <a:prstGeom prst="rect">
            <a:avLst/>
          </a:prstGeom>
          <a:solidFill>
            <a:srgbClr val="272735"/>
          </a:solidFill>
          <a:ln w="12700">
            <a:solidFill>
              <a:srgbClr val="2727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931920" y="3520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€1,50/h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29000" y="5166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15468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plaza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154680" y="5897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horas, días,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o meses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36576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6309360" y="2651760"/>
            <a:ext cx="1463040" cy="2377440"/>
          </a:xfrm>
          <a:prstGeom prst="rect">
            <a:avLst/>
          </a:prstGeom>
          <a:solidFill>
            <a:srgbClr val="272735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6400800" y="2743200"/>
            <a:ext cx="1280160" cy="219456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6903720" y="2788920"/>
            <a:ext cx="274320" cy="45720"/>
          </a:xfrm>
          <a:prstGeom prst="rect">
            <a:avLst/>
          </a:prstGeom>
          <a:solidFill>
            <a:srgbClr val="171721"/>
          </a:solidFill>
          <a:ln w="12700">
            <a:solidFill>
              <a:srgbClr val="1717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6492240" y="2926080"/>
            <a:ext cx="1097280" cy="73152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6492240" y="2926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492240" y="3749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 Betis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92240" y="3977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€1,50/h · 0,3 km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492240" y="4526280"/>
            <a:ext cx="1097280" cy="2743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649224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5166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03504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reserva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035040" y="5897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fotos y precio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confirmar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863840" y="36576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48" name="Shape 46"/>
          <p:cNvSpPr/>
          <p:nvPr/>
        </p:nvSpPr>
        <p:spPr>
          <a:xfrm>
            <a:off x="9189720" y="2651760"/>
            <a:ext cx="1463040" cy="2377440"/>
          </a:xfrm>
          <a:prstGeom prst="rect">
            <a:avLst/>
          </a:prstGeom>
          <a:solidFill>
            <a:srgbClr val="272735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9281160" y="2743200"/>
            <a:ext cx="1280160" cy="2194560"/>
          </a:xfrm>
          <a:prstGeom prst="rect">
            <a:avLst/>
          </a:prstGeom>
          <a:solidFill>
            <a:srgbClr val="0F1419"/>
          </a:solidFill>
          <a:ln w="12700">
            <a:solidFill>
              <a:srgbClr val="0F14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9784080" y="2788920"/>
            <a:ext cx="274320" cy="45720"/>
          </a:xfrm>
          <a:prstGeom prst="rect">
            <a:avLst/>
          </a:prstGeom>
          <a:solidFill>
            <a:srgbClr val="171721"/>
          </a:solidFill>
          <a:ln w="12700">
            <a:solidFill>
              <a:srgbClr val="1717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9692640" y="3291840"/>
            <a:ext cx="457200" cy="457200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9692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9372600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¡Reservado!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372600" y="4206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 puntos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189720" y="5166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891540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¡Plaza reservada!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915400" y="5897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confirmación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puntos +25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DEMO DE LA 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 Social: aparcar ayudándose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está a punto de salir de su plaza. Otro conductor está dando vueltas cerca.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5577840" cy="3520440"/>
          </a:xfrm>
          <a:prstGeom prst="rect">
            <a:avLst/>
          </a:prstGeom>
          <a:solidFill>
            <a:srgbClr val="1E1E2A"/>
          </a:solidFill>
          <a:ln w="1905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🚙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7160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A — Publica aviso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256032" cy="256032"/>
          </a:xfrm>
          <a:prstGeom prst="ellipse">
            <a:avLst/>
          </a:prstGeom>
          <a:solidFill>
            <a:srgbClr val="1A6E9E">
              <a:alpha val="25000"/>
            </a:srgbClr>
          </a:solidFill>
          <a:ln w="12700">
            <a:solidFill>
              <a:srgbClr val="1A6E9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arrancar, abre Parkable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256032" cy="256032"/>
          </a:xfrm>
          <a:prstGeom prst="ellipse">
            <a:avLst/>
          </a:prstGeom>
          <a:solidFill>
            <a:srgbClr val="1A6E9E">
              <a:alpha val="25000"/>
            </a:srgbClr>
          </a:solidFill>
          <a:ln w="12700">
            <a:solidFill>
              <a:srgbClr val="1A6E9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31520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“Publicar aviso de salida”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754880"/>
            <a:ext cx="256032" cy="256032"/>
          </a:xfrm>
          <a:prstGeom prst="ellipse">
            <a:avLst/>
          </a:prstGeom>
          <a:solidFill>
            <a:srgbClr val="1A6E9E">
              <a:alpha val="25000"/>
            </a:srgbClr>
          </a:solidFill>
          <a:ln w="12700">
            <a:solidFill>
              <a:srgbClr val="1A6E9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31520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Indica: salgo en 5 minutos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5257800"/>
            <a:ext cx="256032" cy="256032"/>
          </a:xfrm>
          <a:prstGeom prst="ellipse">
            <a:avLst/>
          </a:prstGeom>
          <a:solidFill>
            <a:srgbClr val="1A6E9E">
              <a:alpha val="25000"/>
            </a:srgbClr>
          </a:solidFill>
          <a:ln w="12700">
            <a:solidFill>
              <a:srgbClr val="1A6E9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1520" y="5257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5212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aviso aparece en tiempo real para los conductores cercanos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760720"/>
            <a:ext cx="256032" cy="256032"/>
          </a:xfrm>
          <a:prstGeom prst="ellipse">
            <a:avLst/>
          </a:prstGeom>
          <a:solidFill>
            <a:srgbClr val="1A6E9E">
              <a:alpha val="25000"/>
            </a:srgbClr>
          </a:solidFill>
          <a:ln w="12700">
            <a:solidFill>
              <a:srgbClr val="1A6E9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31520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5715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 puntos al confirmar la salida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5577840" cy="3520440"/>
          </a:xfrm>
          <a:prstGeom prst="rect">
            <a:avLst/>
          </a:prstGeom>
          <a:solidFill>
            <a:srgbClr val="1E1E2A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4922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13232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B — Reclama plaza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3749040"/>
            <a:ext cx="256032" cy="256032"/>
          </a:xfrm>
          <a:prstGeom prst="ellipse">
            <a:avLst/>
          </a:prstGeom>
          <a:solidFill>
            <a:srgbClr val="7CB342">
              <a:alpha val="25000"/>
            </a:srgbClr>
          </a:solidFill>
          <a:ln w="12700">
            <a:solidFill>
              <a:srgbClr val="7CB34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492240" y="3749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notificación: plaza disponible a 200 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4251960"/>
            <a:ext cx="256032" cy="256032"/>
          </a:xfrm>
          <a:prstGeom prst="ellipse">
            <a:avLst/>
          </a:prstGeom>
          <a:solidFill>
            <a:srgbClr val="7CB342">
              <a:alpha val="25000"/>
            </a:srgbClr>
          </a:solidFill>
          <a:ln w="12700">
            <a:solidFill>
              <a:srgbClr val="7CB34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492240" y="4251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“Reclamar” en la app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92240" y="4754880"/>
            <a:ext cx="256032" cy="256032"/>
          </a:xfrm>
          <a:prstGeom prst="ellipse">
            <a:avLst/>
          </a:prstGeom>
          <a:solidFill>
            <a:srgbClr val="7CB342">
              <a:alpha val="25000"/>
            </a:srgbClr>
          </a:solidFill>
          <a:ln w="12700">
            <a:solidFill>
              <a:srgbClr val="7CB34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492240" y="4754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el intercambio cuando llega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92240" y="5257800"/>
            <a:ext cx="256032" cy="256032"/>
          </a:xfrm>
          <a:prstGeom prst="ellipse">
            <a:avLst/>
          </a:prstGeom>
          <a:solidFill>
            <a:srgbClr val="7CB342">
              <a:alpha val="25000"/>
            </a:srgbClr>
          </a:solidFill>
          <a:ln w="12700">
            <a:solidFill>
              <a:srgbClr val="7CB34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492240" y="5257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5212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completan la transacción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92240" y="5760720"/>
            <a:ext cx="256032" cy="256032"/>
          </a:xfrm>
          <a:prstGeom prst="ellipse">
            <a:avLst/>
          </a:prstGeom>
          <a:solidFill>
            <a:srgbClr val="7CB342">
              <a:alpha val="25000"/>
            </a:srgbClr>
          </a:solidFill>
          <a:ln w="12700">
            <a:solidFill>
              <a:srgbClr val="7CB34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6492240" y="5760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0" y="5715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 puntos al confirmar el aparcamiento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DEMO DE LA APP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gamificación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aviso completado genera puntos automáticamente. Canjéalos por recompensas reales.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ganan?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486400" cy="6400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🅿️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3429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Ofreces tu plaza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3566160"/>
            <a:ext cx="822960" cy="36576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572000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5486400" cy="6400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4206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Aparcas con un aviso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4343400"/>
            <a:ext cx="822960" cy="36576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572000" y="4343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puedes canjear?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17920" y="3429000"/>
            <a:ext cx="5486400" cy="54864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400800" y="3429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944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gratis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0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069080"/>
            <a:ext cx="5486400" cy="54864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400800" y="4069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🚿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49440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Lavado de coche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0" y="4069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709160"/>
            <a:ext cx="5486400" cy="54864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400800" y="4709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49440" y="4709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5 € en gasolina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0" y="4709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pts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17920" y="5349240"/>
            <a:ext cx="5486400" cy="548640"/>
          </a:xfrm>
          <a:prstGeom prst="rect">
            <a:avLst/>
          </a:prstGeom>
          <a:solidFill>
            <a:srgbClr val="1A6E9E">
              <a:alpha val="30000"/>
            </a:srgbClr>
          </a:solidFill>
          <a:ln w="12700">
            <a:solidFill>
              <a:srgbClr val="1A6E9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400800" y="5349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94944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Premium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0" y="5349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pts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ARQUITECTURA TÉCNICA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MVVM por capas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tiene una responsabilidad clara. La información fluye en una dirección, lo que hace la app testeable y mantenible.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971800"/>
            <a:ext cx="9418320" cy="640080"/>
          </a:xfrm>
          <a:prstGeom prst="rect">
            <a:avLst/>
          </a:prstGeom>
          <a:solidFill>
            <a:srgbClr val="1E1E2A"/>
          </a:solidFill>
          <a:ln w="1524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371600" y="2971800"/>
            <a:ext cx="109728" cy="64008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737360" y="2971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971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· Material 3 · Navigation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36118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9418320" cy="640080"/>
          </a:xfrm>
          <a:prstGeom prst="rect">
            <a:avLst/>
          </a:prstGeom>
          <a:solidFill>
            <a:srgbClr val="1E1E2A"/>
          </a:solidFill>
          <a:ln w="1524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371600" y="3749040"/>
            <a:ext cx="109728" cy="64008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73736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37490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StateFlow · Coroutines · ViewModelFactory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43891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4526280"/>
            <a:ext cx="9418320" cy="640080"/>
          </a:xfrm>
          <a:prstGeom prst="rect">
            <a:avLst/>
          </a:prstGeom>
          <a:solidFill>
            <a:srgbClr val="1E1E2A"/>
          </a:solidFill>
          <a:ln w="1524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1371600" y="4526280"/>
            <a:ext cx="109728" cy="64008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737360" y="4526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45262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Listing · Alert · User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51663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371600" y="5303520"/>
            <a:ext cx="9418320" cy="640080"/>
          </a:xfrm>
          <a:prstGeom prst="rect">
            <a:avLst/>
          </a:prstGeom>
          <a:solidFill>
            <a:srgbClr val="1E1E2A"/>
          </a:solidFill>
          <a:ln w="15240">
            <a:solidFill>
              <a:srgbClr val="0F4C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1371600" y="5303520"/>
            <a:ext cx="109728" cy="64008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1737360" y="5303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0" y="5303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· Firestore · DataStore · Maps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2636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ARQUITECTURA TÉCNICA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en Firestore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colecciones NoSQL en tiempo real. Las relaciones se gestionan por referencia (ID del documento).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1247120" cy="566928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73152" cy="56692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9260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ED5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9260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+ saldo de puntos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 · name · email · points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84448"/>
            <a:ext cx="11247120" cy="566928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57200" y="3584448"/>
            <a:ext cx="73152" cy="56692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40080" y="358444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5844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ED5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listings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35844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del marketplace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35844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ownerId · photos · location · prices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42816"/>
            <a:ext cx="11247120" cy="566928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57200" y="4242816"/>
            <a:ext cx="73152" cy="56692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40080" y="42428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80160" y="42428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ED5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424281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confirmadas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424281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listingId · userId · dates · price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901184"/>
            <a:ext cx="11247120" cy="566928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457200" y="4901184"/>
            <a:ext cx="73152" cy="56692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40080" y="490118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80160" y="49011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ED5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parking_alerts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0" y="49011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en tiempo real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490118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· location · minutesUntilLeave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559552"/>
            <a:ext cx="11247120" cy="566928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457200" y="5559552"/>
            <a:ext cx="73152" cy="566928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0080" y="555955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280160" y="55595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ED5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points_transactions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657600" y="55595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auditable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40880" y="555955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070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 · type · amount · timestamp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ARQUITECTURA TÉCNICA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2743200" cy="50292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y UI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2743200" cy="27432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85800" y="3593592"/>
            <a:ext cx="109728" cy="109728"/>
          </a:xfrm>
          <a:prstGeom prst="ellipse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91440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1.9.22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187952"/>
            <a:ext cx="109728" cy="109728"/>
          </a:xfrm>
          <a:prstGeom prst="ellipse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782312"/>
            <a:ext cx="109728" cy="109728"/>
          </a:xfrm>
          <a:prstGeom prst="ellipse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376672"/>
            <a:ext cx="109728" cy="109728"/>
          </a:xfrm>
          <a:prstGeom prst="ellipse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91440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Compose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2743200"/>
            <a:ext cx="2743200" cy="50292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33756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37560" y="3246120"/>
            <a:ext cx="2743200" cy="27432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566160" y="3593592"/>
            <a:ext cx="109728" cy="109728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79476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66160" y="4187952"/>
            <a:ext cx="109728" cy="109728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79476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66160" y="4782312"/>
            <a:ext cx="109728" cy="109728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794760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BOM 32.7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66160" y="5376672"/>
            <a:ext cx="109728" cy="109728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79476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Spark (free)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2743200" cy="5029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21792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y datos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0" y="3246120"/>
            <a:ext cx="2743200" cy="27432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6446520" y="3593592"/>
            <a:ext cx="109728" cy="109728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67512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SDK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46520" y="4187952"/>
            <a:ext cx="109728" cy="109728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667512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Compose 4.3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46520" y="4782312"/>
            <a:ext cx="109728" cy="109728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6675120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API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46520" y="5376672"/>
            <a:ext cx="109728" cy="109728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67512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 (imágenes)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098280" y="2743200"/>
            <a:ext cx="2743200" cy="5029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909828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098280" y="3246120"/>
            <a:ext cx="2743200" cy="27432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9326880" y="3593592"/>
            <a:ext cx="109728" cy="10972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955548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Preferences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326880" y="4187952"/>
            <a:ext cx="109728" cy="10972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955548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Coroutines + Flow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326880" y="4782312"/>
            <a:ext cx="109728" cy="10972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9555480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Serialization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326880" y="5376672"/>
            <a:ext cx="109728" cy="109728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955548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en Firestore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6080760"/>
            <a:ext cx="11247120" cy="384048"/>
          </a:xfrm>
          <a:prstGeom prst="rect">
            <a:avLst/>
          </a:prstGeom>
          <a:solidFill>
            <a:srgbClr val="272735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640080" y="6080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minSdk: API 26 (Android 8.0+)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429000" y="6080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AGP: 8.2.2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217920" y="6080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JDK: 17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006840" y="6080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archivos Kotlin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CÓDIGO ESENCIAL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datos · Models.kt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57600" cy="393192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657600" cy="9144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ARCHIVO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data/model/Models.kt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hay aquí?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data classes que representan los objetos almacenados en Firestore.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inmutables y se serializan automáticamente.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937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del diseño: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Constructor sin argumentos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 deserialización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Tipos primitivos compatibles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 Firestore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2331720"/>
            <a:ext cx="7406640" cy="4023360"/>
          </a:xfrm>
          <a:prstGeom prst="rect">
            <a:avLst/>
          </a:prstGeom>
          <a:solidFill>
            <a:srgbClr val="0D1117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297680" y="2331720"/>
            <a:ext cx="74066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416552" y="24231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590288" y="24231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64024" y="24231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0789920" y="2331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2697480"/>
            <a:ext cx="7040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class Listing(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id: String = "",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ownerId: String = "",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title: String = "",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photos: List&lt;String&gt; = emptyList(),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latitude: Double = 0.0,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longitude: Double = 0.0,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pricePerHour: Double? =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pricePerDay: Double? =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available: Boolean = true,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createdAt: Long = 0L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class ParkingAlert(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id: String = "",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userId: String = "",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latitude: Double = 0.0,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longitude: Double = 0.0,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minutesUntilLeave: Int = 5,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status: String = "active"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CÓDIGO ESENCIAL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datos · ListingRepository.kt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57600" cy="393192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657600" cy="9144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ARCHIVO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data/repository/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ListingRepository.kt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 todas las operaciones con Firestore. Es el único punto de acceso a la base de datos.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937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 tiempo real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suspend functions con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await() para las </a:t>
            </a:r>
            <a:r>
              <a:rPr lang="en-US" sz="1100" dirty="0" err="1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corrutinas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Result&lt;T&gt; para errores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2331720"/>
            <a:ext cx="7406640" cy="4023360"/>
          </a:xfrm>
          <a:prstGeom prst="rect">
            <a:avLst/>
          </a:prstGeom>
          <a:solidFill>
            <a:srgbClr val="0D1117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297680" y="2331720"/>
            <a:ext cx="74066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416552" y="24231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590288" y="24231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64024" y="24231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0789920" y="2331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2697480"/>
            <a:ext cx="7040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ListingRepository(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val db: FirebaseFirestore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 getActiveListings(): Flow&lt;List&lt;Listing&gt;&gt; = callbackFlow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 listener = db.collection("listings")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.whereEqualTo("available", 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.orderBy("createdAt", Query.Direction.DESCENDING)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.addSnapshotListener { snapshot, _ 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val listings = snapshot?.toObjects(Listing::class.java) ?: emptyList()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trySend(listings)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awaitClose { listener.remove()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suspend fun createListing(listing: Listing): Result&lt;String&gt; = try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 ref = db.collection("listings").add(listing).await()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Result.success(ref.id)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(e: Exception)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Result.failure(e)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CÓDIGO ESENCIAL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· ListingViewModel.kt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57600" cy="393192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657600" cy="9144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ARCHIVO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viewmodel/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ListingViewModel.kt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 el estado del marketplace como un StateFlow que la UI observa con collectAsState() en Compose.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074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viewModelScope vincula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las coroutines al ciclo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vida del ViewModel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2331720"/>
            <a:ext cx="7406640" cy="4023360"/>
          </a:xfrm>
          <a:prstGeom prst="rect">
            <a:avLst/>
          </a:prstGeom>
          <a:solidFill>
            <a:srgbClr val="0D1117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297680" y="2331720"/>
            <a:ext cx="74066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416552" y="24231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590288" y="24231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64024" y="24231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0789920" y="2331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2697480"/>
            <a:ext cx="7040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ListingViewModel(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val repo: ListingRepository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: ViewModel() {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val _listings = MutableStateFlow&lt;List&lt;Listing&gt;&gt;(emptyList())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listings: StateFlow&lt;List&lt;Listing&gt;&gt; = _listings.asStateFlow()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loadListings()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fun loadListings()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viewModelScope.launch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repo.getActiveListings().collect { list 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_listings.value =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 publishListing(listing: Listing)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viewModelScope.launch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repo.createListing(listing)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CÓDIGO ESENCIAL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· MarketplaceScreen.kt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57600" cy="393192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657600" cy="9144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ARCHIVO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ui/screens/marketplace/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MarketplaceScreen.kt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declarativa con Jetpack Compose. Reacciona automáticamente a los cambios del estado.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074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collectAsState() recibe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los datos del ViewModel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UI se redibuja sola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cuando cambia el state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2331720"/>
            <a:ext cx="7406640" cy="4023360"/>
          </a:xfrm>
          <a:prstGeom prst="rect">
            <a:avLst/>
          </a:prstGeom>
          <a:solidFill>
            <a:srgbClr val="0D1117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297680" y="2331720"/>
            <a:ext cx="74066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416552" y="24231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590288" y="24231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64024" y="24231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0789920" y="2331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2697480"/>
            <a:ext cx="7040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MarketplaceScreen(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viewModel: ListingViewModel,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onListingClick: (String) -&gt; Unit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listings by viewModel.listings.collectAsState()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LazyColumn(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contentPadding = PaddingValues(16.dp),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verticalArrangement = Arrangement.spacedBy(12.dp)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items(listings, key = { it.id }) { listing 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ListingCard(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listing = listing,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onClick = { onListingClick(listing.id)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CÓDIGO ESENCIAL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 · AlertRepository.kt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57600" cy="393192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657600" cy="9144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ARCHIVO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data/repository/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AlertRepository.kt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 una plaza usando una </a:t>
            </a:r>
            <a:r>
              <a:rPr lang="en-US" sz="1100" dirty="0" err="1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</a:t>
            </a: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instantánea</a:t>
            </a: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Garantiza que solo un conductor pueda reclamarla.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394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runTransaction garantiza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que dos usuarios no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reclamen a la vez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2331720"/>
            <a:ext cx="7406640" cy="4023360"/>
          </a:xfrm>
          <a:prstGeom prst="rect">
            <a:avLst/>
          </a:prstGeom>
          <a:solidFill>
            <a:srgbClr val="0D1117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297680" y="2331720"/>
            <a:ext cx="74066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416552" y="24231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590288" y="24231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64024" y="24231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0789920" y="2331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2697480"/>
            <a:ext cx="7040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suspend fun claimAlert(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alertId: String,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claimerId: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 Result&lt;Unit&gt; = try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db.runTransaction { transaction -&gt;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 alertRef = db.collection("parking_alerts").document(alertId)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 alert = transaction.get(alertRef)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(alert.getString("status") != "active")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Exception("Aviso ya reclamado")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transaction.update(alertRef, mapOf(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"status" to "claimed",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"claimerId" to claimerId,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"claimedAt" to System.currentTimeMillis()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}.await()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Result.success(Unit)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(e: Exception)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Result.failure(e)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CÓDIGO ESENCIAL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Multi-idioma en caliente · LocaleHelper.kt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57600" cy="393192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657600" cy="9144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ED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ARCHIVO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locale/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LocaleHelper.kt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idioma de la app SIN tener que reiniciar la aplicación. Una de las funciones más complejas del proyecto.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394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attachBaseContext aplica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 locale antes de cargar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los recursos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recreate() recarga la UI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2331720"/>
            <a:ext cx="7406640" cy="4023360"/>
          </a:xfrm>
          <a:prstGeom prst="rect">
            <a:avLst/>
          </a:prstGeom>
          <a:solidFill>
            <a:srgbClr val="0D1117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297680" y="2331720"/>
            <a:ext cx="7406640" cy="2926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416552" y="242316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4590288" y="242316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64024" y="242316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10789920" y="23317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2697480"/>
            <a:ext cx="7040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LocaleHelper {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 setLocale(context: Context, languageCode: String): Context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 locale = Locale(languageCode)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Locale.setDefault(locale)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 config = Configuration(context.resources.configuration)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config.setLocale(locale)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context.createConfigurationContext(config)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Uso en MainActivity: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 fun attachBaseContext(newBase: Context)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lang = runBlocking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prefs.languageFlow.first()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context = LocaleHelper.setLocale(newBase, lang)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super.attachBaseContext(context)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complementaria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 web pública para presentar Parkable a usuarios finales, desarrollada en HTML + CSS + JS puro (sin frameworks).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6400800" cy="3383280"/>
          </a:xfrm>
          <a:prstGeom prst="rect">
            <a:avLst/>
          </a:prstGeom>
          <a:solidFill>
            <a:srgbClr val="0F1419"/>
          </a:solidFill>
          <a:ln w="190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6400800" cy="320040"/>
          </a:xfrm>
          <a:prstGeom prst="rect">
            <a:avLst/>
          </a:prstGeom>
          <a:solidFill>
            <a:srgbClr val="272735"/>
          </a:solidFill>
          <a:ln w="12700">
            <a:solidFill>
              <a:srgbClr val="2727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594360" y="3017520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777240" y="3017520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960120" y="3017520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2296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Aparca mejor.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 menos.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plaza en 2 minutos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comparte la tuya.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5212080"/>
            <a:ext cx="182880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app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3520440"/>
            <a:ext cx="1554480" cy="2468880"/>
          </a:xfrm>
          <a:prstGeom prst="rect">
            <a:avLst/>
          </a:prstGeom>
          <a:solidFill>
            <a:srgbClr val="171721"/>
          </a:solidFill>
          <a:ln w="1905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5120640" y="3657600"/>
            <a:ext cx="1371600" cy="2286000"/>
          </a:xfrm>
          <a:prstGeom prst="rect">
            <a:avLst/>
          </a:prstGeom>
          <a:solidFill>
            <a:srgbClr val="272735"/>
          </a:solidFill>
          <a:ln w="12700">
            <a:solidFill>
              <a:srgbClr val="27273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486400" y="4297680"/>
            <a:ext cx="164592" cy="164592"/>
          </a:xfrm>
          <a:prstGeom prst="ellipse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852160" y="4663440"/>
            <a:ext cx="201168" cy="201168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713232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incluye?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2376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8096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dark con paleta Parkable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2376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8096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glow y partículas animadas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23760" y="4434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80960" y="4434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Multi-idioma ES/EN en caliente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23760" y="4937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8096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Totalmente responsive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23760" y="5440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80960" y="5440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frameworks, 100% vanilla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IMPACTO Y FUTURO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Pequeños gestos. Gran cambio.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reserva ahorra emisiones. Multiplicado por miles de conductores, el impacto es real.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657600" cy="2743200"/>
          </a:xfrm>
          <a:prstGeom prst="rect">
            <a:avLst/>
          </a:prstGeom>
          <a:solidFill>
            <a:srgbClr val="1E1E2A"/>
          </a:solidFill>
          <a:ln w="12700">
            <a:solidFill>
              <a:srgbClr val="7CB34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kg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evitado por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cada semana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apagar el coche un día entero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3017520"/>
            <a:ext cx="3657600" cy="2743200"/>
          </a:xfrm>
          <a:prstGeom prst="rect">
            <a:avLst/>
          </a:prstGeom>
          <a:solidFill>
            <a:srgbClr val="7CB342">
              <a:alpha val="30000"/>
            </a:srgbClr>
          </a:solidFill>
          <a:ln w="25400">
            <a:solidFill>
              <a:srgbClr val="7CB34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297680" y="3154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29768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árbol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480560" y="4434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lo que Parkable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 cada mes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5120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árbol absorbe ~21 kg/año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3017520"/>
            <a:ext cx="3657600" cy="2743200"/>
          </a:xfrm>
          <a:prstGeom prst="rect">
            <a:avLst/>
          </a:prstGeom>
          <a:solidFill>
            <a:srgbClr val="1E1E2A"/>
          </a:solidFill>
          <a:ln w="12700">
            <a:solidFill>
              <a:srgbClr val="7CB34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138160" y="3154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13816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€180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321040" y="4434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combustible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ahorrado al año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5120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búsqueda × 365 días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solidFill>
            <a:srgbClr val="7CB342">
              <a:alpha val="20000"/>
            </a:srgbClr>
          </a:solidFill>
          <a:ln w="12700">
            <a:solidFill>
              <a:srgbClr val="7CB34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40080" y="5897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5897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misión: </a:t>
            </a:r>
            <a:r>
              <a:rPr lang="en-US" sz="1300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que las ciudades respiren mejor, una plaza a la vez.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VALORACIÓN PERSONAL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y aprendizajes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complicado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5486400" cy="6858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73152" cy="685800"/>
          </a:xfrm>
          <a:prstGeom prst="rect">
            <a:avLst/>
          </a:prstGeom>
          <a:solidFill>
            <a:srgbClr val="E87070"/>
          </a:solidFill>
          <a:ln w="12700">
            <a:solidFill>
              <a:srgbClr val="E870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idioma en caliente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186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Recargar la app sin perder el estado: requirió attachBaseContext + recreate()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5486400" cy="6858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73152" cy="685800"/>
          </a:xfrm>
          <a:prstGeom prst="rect">
            <a:avLst/>
          </a:prstGeom>
          <a:solidFill>
            <a:srgbClr val="E87070"/>
          </a:solidFill>
          <a:ln w="12700">
            <a:solidFill>
              <a:srgbClr val="E870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Spark sin Storage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9959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Solucionado guardando fotos como Base64 directamente en Firestore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5486400" cy="6858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73152" cy="685800"/>
          </a:xfrm>
          <a:prstGeom prst="rect">
            <a:avLst/>
          </a:prstGeom>
          <a:solidFill>
            <a:srgbClr val="E87070"/>
          </a:solidFill>
          <a:ln w="12700">
            <a:solidFill>
              <a:srgbClr val="E870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bilateral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7731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atómicas en Firestore para evitar dobles reclamaciones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257800"/>
            <a:ext cx="5486400" cy="6858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57200" y="5257800"/>
            <a:ext cx="73152" cy="685800"/>
          </a:xfrm>
          <a:prstGeom prst="rect">
            <a:avLst/>
          </a:prstGeom>
          <a:solidFill>
            <a:srgbClr val="E87070"/>
          </a:solidFill>
          <a:ln w="12700">
            <a:solidFill>
              <a:srgbClr val="E8707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4008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 sin coste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5504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Sustituí Google Geocoding por Nominatim de OpenStreetMap (gratis)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me llevo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2926080"/>
            <a:ext cx="5486400" cy="6858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6217920" y="2926080"/>
            <a:ext cx="73152" cy="6858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400800" y="2971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por capas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32186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+ </a:t>
            </a:r>
            <a:r>
              <a:rPr lang="en-US" sz="1100" dirty="0" err="1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separar responsabilidades hace que el código sea mantenible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703320"/>
            <a:ext cx="5486400" cy="6858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6217920" y="3703320"/>
            <a:ext cx="73152" cy="6858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6400800" y="3749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declarativo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39959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entendido el StateFlow, la UI prácticamente se construye sola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480560"/>
            <a:ext cx="5486400" cy="6858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6217920" y="4480560"/>
            <a:ext cx="73152" cy="6858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640080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Corrutinas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Flow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0" y="47731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asincronismo en Kotlin es mucho más limpio que callbacks o RxJava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5257800"/>
            <a:ext cx="5486400" cy="68580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6217920" y="5257800"/>
            <a:ext cx="73152" cy="68580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40080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en producción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0" y="55504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reglas de seguridad, índices y costes desde el primer día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IMPACTO Y FUTURO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¿hacia dónde puede crecer?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5577840" cy="10972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640080" cy="640080"/>
          </a:xfrm>
          <a:prstGeom prst="ellipse">
            <a:avLst/>
          </a:prstGeom>
          <a:solidFill>
            <a:srgbClr val="1A6E9E">
              <a:alpha val="25000"/>
            </a:srgbClr>
          </a:solidFill>
          <a:ln w="12700">
            <a:solidFill>
              <a:srgbClr val="1A6E9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 real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063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Stripe Connect para pagos en producción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0"/>
            <a:ext cx="5577840" cy="10972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492240" y="2788920"/>
            <a:ext cx="640080" cy="640080"/>
          </a:xfrm>
          <a:prstGeom prst="ellipse">
            <a:avLst/>
          </a:prstGeom>
          <a:solidFill>
            <a:srgbClr val="1A6E9E">
              <a:alpha val="25000"/>
            </a:srgbClr>
          </a:solidFill>
          <a:ln w="12700">
            <a:solidFill>
              <a:srgbClr val="1A6E9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4922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interna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3063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seguro entre propietario y conductor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5577840" cy="10972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640080" cy="640080"/>
          </a:xfrm>
          <a:prstGeom prst="ellipse">
            <a:avLst/>
          </a:prstGeom>
          <a:solidFill>
            <a:srgbClr val="1A6E9E">
              <a:alpha val="25000"/>
            </a:srgbClr>
          </a:solidFill>
          <a:ln w="12700">
            <a:solidFill>
              <a:srgbClr val="1A6E9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3152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3931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geográficos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297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radio con GeoFirestore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794760"/>
            <a:ext cx="5577840" cy="10972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492240" y="4023360"/>
            <a:ext cx="640080" cy="640080"/>
          </a:xfrm>
          <a:prstGeom prst="ellipse">
            <a:avLst/>
          </a:prstGeom>
          <a:solidFill>
            <a:srgbClr val="1A6E9E">
              <a:alpha val="25000"/>
            </a:srgbClr>
          </a:solidFill>
          <a:ln w="12700">
            <a:solidFill>
              <a:srgbClr val="1A6E9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4922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3931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 y reputación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15200" y="4297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valoración de propietarios y conductores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5577840" cy="10972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731520" y="5257800"/>
            <a:ext cx="640080" cy="640080"/>
          </a:xfrm>
          <a:prstGeom prst="ellipse">
            <a:avLst/>
          </a:prstGeom>
          <a:solidFill>
            <a:srgbClr val="1A6E9E">
              <a:alpha val="25000"/>
            </a:srgbClr>
          </a:solidFill>
          <a:ln w="12700">
            <a:solidFill>
              <a:srgbClr val="1A6E9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3152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54480" y="5166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reservas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554480" y="5532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fechas y disponibilidad por días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5029200"/>
            <a:ext cx="5577840" cy="109728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492240" y="5257800"/>
            <a:ext cx="640080" cy="640080"/>
          </a:xfrm>
          <a:prstGeom prst="ellipse">
            <a:avLst/>
          </a:prstGeom>
          <a:solidFill>
            <a:srgbClr val="1A6E9E">
              <a:alpha val="25000"/>
            </a:srgbClr>
          </a:solidFill>
          <a:ln w="12700">
            <a:solidFill>
              <a:srgbClr val="1A6E9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49224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15200" y="5166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automatizados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315200" y="5532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Coroutines Test + Compose UI Tests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38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Parkable, en una frase.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1371600" y="2697480"/>
            <a:ext cx="9418320" cy="1371600"/>
          </a:xfrm>
          <a:prstGeom prst="rect">
            <a:avLst/>
          </a:prstGeom>
          <a:solidFill>
            <a:srgbClr val="1A6E9E">
              <a:alpha val="20000"/>
            </a:srgbClr>
          </a:solidFill>
          <a:ln w="25400">
            <a:solidFill>
              <a:srgbClr val="1A6E9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371600" y="269748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"Una app móvil que aprovecha la tecnología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aparcar sea más rápido, más barato y más sostenible."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371600" y="4526280"/>
            <a:ext cx="3017520" cy="146304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37160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371600" y="5596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Kotlin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4526280"/>
            <a:ext cx="3017520" cy="146304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57200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0" y="5596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colecciones Firestore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4526280"/>
            <a:ext cx="3017520" cy="1463040"/>
          </a:xfrm>
          <a:prstGeom prst="rect">
            <a:avLst/>
          </a:prstGeom>
          <a:solidFill>
            <a:srgbClr val="1E1E2A"/>
          </a:solidFill>
          <a:ln w="1270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772400" y="4663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7240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772400" y="5596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 disponibles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Smart Parking. Shared Spaces. 🌿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6350">
            <a:solidFill>
              <a:srgbClr val="2D2D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Parkable · TFG DAM 2025-26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6647688"/>
            <a:ext cx="54864" cy="54864"/>
          </a:xfrm>
          <a:prstGeom prst="ellipse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17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A6E9E">
              <a:alpha val="12000"/>
            </a:srgbClr>
          </a:solidFill>
          <a:ln w="12700">
            <a:solidFill>
              <a:srgbClr val="1A6E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7CB342">
              <a:alpha val="8000"/>
            </a:srgbClr>
          </a:solidFill>
          <a:ln w="12700">
            <a:solidFill>
              <a:srgbClr val="7CB3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440680" y="1463040"/>
            <a:ext cx="1280160" cy="1280160"/>
          </a:xfrm>
          <a:prstGeom prst="rect">
            <a:avLst/>
          </a:prstGeom>
          <a:solidFill>
            <a:srgbClr val="1A6E9E"/>
          </a:solidFill>
          <a:ln w="12700">
            <a:solidFill>
              <a:srgbClr val="1A6E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40680" y="1463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7000" dirty="0"/>
          </a:p>
        </p:txBody>
      </p:sp>
      <p:sp>
        <p:nvSpPr>
          <p:cNvPr id="6" name="Shape 4"/>
          <p:cNvSpPr/>
          <p:nvPr/>
        </p:nvSpPr>
        <p:spPr>
          <a:xfrm>
            <a:off x="6858000" y="2468880"/>
            <a:ext cx="182880" cy="182880"/>
          </a:xfrm>
          <a:prstGeom prst="rect">
            <a:avLst/>
          </a:prstGeom>
          <a:solidFill>
            <a:srgbClr val="7CB342"/>
          </a:solidFill>
          <a:ln w="127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9200" dirty="0"/>
          </a:p>
        </p:txBody>
      </p:sp>
      <p:sp>
        <p:nvSpPr>
          <p:cNvPr id="8" name="Shape 6"/>
          <p:cNvSpPr/>
          <p:nvPr/>
        </p:nvSpPr>
        <p:spPr>
          <a:xfrm>
            <a:off x="5486400" y="4160520"/>
            <a:ext cx="1188720" cy="0"/>
          </a:xfrm>
          <a:prstGeom prst="line">
            <a:avLst/>
          </a:prstGeom>
          <a:noFill/>
          <a:ln w="38100">
            <a:solidFill>
              <a:srgbClr val="7CB34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¿Alguna pregunta?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Raño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55778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3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 de Ciclo · CFGS Desarrollo de Aplicaciones Multiplataforma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0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 El Majuelo · Curso 2025-2026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💙  🅿️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2776</Words>
  <Application>Microsoft Office PowerPoint</Application>
  <PresentationFormat>Panorámica</PresentationFormat>
  <Paragraphs>670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IES El Majuelo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Parkable — TFG DAM</dc:title>
  <dc:subject>PptxGenJS Presentation</dc:subject>
  <dc:creator>Antonio Raño</dc:creator>
  <cp:lastModifiedBy>Aron Mosley</cp:lastModifiedBy>
  <cp:revision>2</cp:revision>
  <dcterms:created xsi:type="dcterms:W3CDTF">2026-05-16T00:29:33Z</dcterms:created>
  <dcterms:modified xsi:type="dcterms:W3CDTF">2026-05-19T14:37:49Z</dcterms:modified>
</cp:coreProperties>
</file>